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7" r:id="rId5"/>
    <p:sldId id="258" r:id="rId6"/>
    <p:sldId id="267" r:id="rId7"/>
    <p:sldId id="261" r:id="rId8"/>
    <p:sldId id="268" r:id="rId9"/>
    <p:sldId id="256" r:id="rId10"/>
    <p:sldId id="259" r:id="rId11"/>
    <p:sldId id="260" r:id="rId12"/>
    <p:sldId id="262" r:id="rId13"/>
    <p:sldId id="263" r:id="rId14"/>
    <p:sldId id="265" r:id="rId15"/>
    <p:sldId id="264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2B4"/>
    <a:srgbClr val="D0D5E7"/>
    <a:srgbClr val="D4EBDB"/>
    <a:srgbClr val="DAE3F3"/>
    <a:srgbClr val="C5E0B4"/>
    <a:srgbClr val="B4C7E7"/>
    <a:srgbClr val="5B9BD5"/>
    <a:srgbClr val="00F74D"/>
    <a:srgbClr val="64C829"/>
    <a:srgbClr val="1C5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0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2D6881-7581-4000-6AA9-37BEDDC9E3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F61AB-95FF-7160-4DBD-E8FB3486A0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858C3-347B-42D8-BBF8-447AF699D3FD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C8151-9F3B-CA6A-F864-9B507C1C1F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647B2-13C1-8E14-8A7C-D3810D3986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C5A32-3DA3-4E68-AF2D-A29D4D3AD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93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2D2A-BDD1-4F98-B2F3-AA78BC160F38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81936-E19D-499F-B6C4-209A424F1F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87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459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06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B057-0C1A-0308-BB4B-6D8358B6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07099-538F-1B26-3520-8E3973E7E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B9B1E-D4DF-DB31-0536-EDD96CCD6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</a:t>
            </a:r>
            <a:r>
              <a:rPr lang="en-AU" dirty="0" err="1"/>
              <a:t>product_enhancements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2756D-3C66-6E02-E4A3-320A142C5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420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volumes_forecast_vs_actual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77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B7DA2-9CD3-79A7-3ED7-6AB11D95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EAC10-BA8B-BBB7-444D-6D71C4123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14DE5-25BE-9229-8325-A1271F348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</a:t>
            </a:r>
            <a:r>
              <a:rPr lang="en-AU" dirty="0" err="1"/>
              <a:t>governance_matrix_highlights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FC735-BC71-A317-E77F-5603A9D6D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978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</a:t>
            </a:r>
            <a:r>
              <a:rPr lang="en-AU" dirty="0" err="1"/>
              <a:t>governance_matrix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743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</a:t>
            </a:r>
            <a:r>
              <a:rPr lang="en-AU" dirty="0" err="1"/>
              <a:t>image_and_key_insights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953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TEMPLATE_TAG=</a:t>
            </a:r>
            <a:r>
              <a:rPr lang="en-AU" dirty="0" err="1"/>
              <a:t>full_page_image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175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regulatory_industry_updates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4168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risk_dashboard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582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text_with_commentary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82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risk_register_incidents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734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07DC-A7D5-2332-94E8-8DD29FF3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E39B0-D50D-7E15-7A93-D6B1C1D19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60985-4EE6-79B1-6A0D-A754B803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TEMPLATE_TAG=</a:t>
            </a:r>
            <a:r>
              <a:rPr lang="en-GB" dirty="0" err="1"/>
              <a:t>voice_of_the_customer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ECA34-421F-3875-24E2-BEA169E5E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81936-E19D-499F-B6C4-209A424F1FB8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44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EC46-6110-15A8-E2C8-6ACE887F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3E069-33D1-00F3-6EA3-23B0D294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97935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page_placehold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547B-DE50-1A95-7D8B-B4AD9D3A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D73E2-8F86-6315-E228-1002E69B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1487470-5D60-24C1-8C90-D936767DC6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13" y="1080655"/>
            <a:ext cx="8999640" cy="574855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00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90E3A-F44B-674E-1310-29260D15EA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9144000" cy="941013"/>
          </a:xfrm>
          <a:prstGeom prst="rect">
            <a:avLst/>
          </a:prstGeom>
          <a:solidFill>
            <a:srgbClr val="1B3D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56333-585A-681D-E000-8621555285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8626" y="941014"/>
            <a:ext cx="9161252" cy="94811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C0F2E72E-6EE3-C105-395F-28F228CEA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27"/>
          <a:stretch>
            <a:fillRect/>
          </a:stretch>
        </p:blipFill>
        <p:spPr bwMode="auto">
          <a:xfrm>
            <a:off x="5921181" y="251190"/>
            <a:ext cx="1704773" cy="43863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Placeholder 17">
            <a:extLst>
              <a:ext uri="{FF2B5EF4-FFF2-40B4-BE49-F238E27FC236}">
                <a16:creationId xmlns:a16="http://schemas.microsoft.com/office/drawing/2014/main" id="{53B70DD5-B25A-6F2D-C7F1-26FD3FD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2" y="278438"/>
            <a:ext cx="5716637" cy="6625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{{</a:t>
            </a:r>
            <a:r>
              <a:rPr lang="en-AU" dirty="0" err="1"/>
              <a:t>page_title</a:t>
            </a:r>
            <a:r>
              <a:rPr lang="en-AU" dirty="0"/>
              <a:t>}}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32AE371A-C2E1-5C97-6C0B-906C685C3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273" y="28790"/>
            <a:ext cx="2057400" cy="220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pic>
        <p:nvPicPr>
          <p:cNvPr id="6" name="Picture 5" descr="A black background with gold numbers and white text&#10;&#10;AI-generated content may be incorrect.">
            <a:extLst>
              <a:ext uri="{FF2B5EF4-FFF2-40B4-BE49-F238E27FC236}">
                <a16:creationId xmlns:a16="http://schemas.microsoft.com/office/drawing/2014/main" id="{1059F0D2-FE5D-4C0D-2DC0-4ED95B7CF6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252" y="-144638"/>
            <a:ext cx="235655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6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</p:sldLayoutIdLst>
  <p:hf sldNum="0" hdr="0" ftr="0"/>
  <p:txStyles>
    <p:titleStyle>
      <a:lvl1pPr algn="l" defTabSz="914400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800" b="1" kern="1200">
          <a:solidFill>
            <a:schemeClr val="bg1"/>
          </a:solidFill>
          <a:latin typeface="Century Gothic" panose="020B0502020202020204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okenised real estate">
            <a:extLst>
              <a:ext uri="{FF2B5EF4-FFF2-40B4-BE49-F238E27FC236}">
                <a16:creationId xmlns:a16="http://schemas.microsoft.com/office/drawing/2014/main" id="{8825F83D-8F38-ADA8-2C8D-95D66BFAFE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" t="17271" r="9971"/>
          <a:stretch>
            <a:fillRect/>
          </a:stretch>
        </p:blipFill>
        <p:spPr bwMode="auto">
          <a:xfrm>
            <a:off x="0" y="1029703"/>
            <a:ext cx="9144000" cy="591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417DD4E-69E4-C92D-1630-71615BAB1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95" y="65127"/>
            <a:ext cx="4966588" cy="811926"/>
          </a:xfrm>
        </p:spPr>
        <p:txBody>
          <a:bodyPr>
            <a:noAutofit/>
          </a:bodyPr>
          <a:lstStyle/>
          <a:p>
            <a:r>
              <a:rPr lang="en-AU" dirty="0"/>
              <a:t>Monthly Governance Forum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852BD6B-B10F-CD41-6D85-F78F437019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8450" y="1249767"/>
            <a:ext cx="2635653" cy="1107996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B4014-0F1A-5654-86E0-3133272913E7}"/>
              </a:ext>
            </a:extLst>
          </p:cNvPr>
          <p:cNvSpPr txBox="1"/>
          <p:nvPr/>
        </p:nvSpPr>
        <p:spPr>
          <a:xfrm>
            <a:off x="3076574" y="1249767"/>
            <a:ext cx="5788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{{</a:t>
            </a:r>
            <a:r>
              <a:rPr lang="en-US" sz="4400" b="1" dirty="0" err="1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display_date</a:t>
            </a:r>
            <a:r>
              <a:rPr lang="en-US" sz="4400" b="1" dirty="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}}</a:t>
            </a:r>
            <a:endParaRPr lang="en-AU" sz="4400" b="1" dirty="0">
              <a:solidFill>
                <a:srgbClr val="92D05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7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085678-4E0C-F583-05B5-18182D34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{{ title }}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7C5F8-CF10-D9FF-B550-8E2D52D0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785FC8-BCCC-177E-414E-3181AA6FD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330230"/>
              </p:ext>
            </p:extLst>
          </p:nvPr>
        </p:nvGraphicFramePr>
        <p:xfrm>
          <a:off x="317862" y="1502579"/>
          <a:ext cx="8368938" cy="376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Item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Agenda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Who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6256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Opening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</a:t>
                      </a:r>
                      <a:endParaRPr lang="en-AU" sz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Minutes and Actions from the last meeting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</a:t>
                      </a:r>
                      <a:endParaRPr lang="en-AU" sz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Service Performance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Volume Reporting and expected changes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Service Level Reporting (including any SLA breach and mitigating actions)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Operational Insights | Improvements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Regulatory | Industry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</a:t>
                      </a:r>
                      <a:endParaRPr lang="en-AU" sz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Projects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Status of Projects in progress or recently completed</a:t>
                      </a:r>
                      <a:endParaRPr lang="en-AU" sz="1200" kern="1200" dirty="0">
                        <a:solidFill>
                          <a:schemeClr val="dk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Risk and Control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Risk Items (Issue and Event reporting)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Risk Calendar (upcoming tasks)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2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Business Continuity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</a:t>
                      </a:r>
                      <a:endParaRPr lang="en-AU" sz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 other Business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</a:t>
                      </a:r>
                      <a:endParaRPr lang="en-AU" sz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40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50F2-8523-61D9-C1E4-73F81528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950D4A-DB2B-9654-212B-01BF41EF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/>
              <a:t>{{ title }}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6A6B8-3016-938E-B0F6-CE4FB805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74C219-1510-C144-F39E-2F7439896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7177"/>
              </p:ext>
            </p:extLst>
          </p:nvPr>
        </p:nvGraphicFramePr>
        <p:xfrm>
          <a:off x="223723" y="1290420"/>
          <a:ext cx="8696556" cy="3865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863">
                  <a:extLst>
                    <a:ext uri="{9D8B030D-6E8A-4147-A177-3AD203B41FA5}">
                      <a16:colId xmlns:a16="http://schemas.microsoft.com/office/drawing/2014/main" val="1657998906"/>
                    </a:ext>
                  </a:extLst>
                </a:gridCol>
                <a:gridCol w="2952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800">
                  <a:extLst>
                    <a:ext uri="{9D8B030D-6E8A-4147-A177-3AD203B41FA5}">
                      <a16:colId xmlns:a16="http://schemas.microsoft.com/office/drawing/2014/main" val="2186257660"/>
                    </a:ext>
                  </a:extLst>
                </a:gridCol>
                <a:gridCol w="2537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</a:t>
                      </a:r>
                      <a:endParaRPr lang="en-AU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kern="1200" dirty="0">
                          <a:solidFill>
                            <a:schemeClr val="l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/ Initiative </a:t>
                      </a:r>
                      <a:endParaRPr lang="en-AU" sz="1100" b="1" kern="1200" dirty="0">
                        <a:solidFill>
                          <a:schemeClr val="lt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 kern="1200" dirty="0">
                          <a:solidFill>
                            <a:schemeClr val="l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AU" sz="1100" b="1" kern="1200" dirty="0">
                        <a:solidFill>
                          <a:schemeClr val="lt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Status</a:t>
                      </a:r>
                      <a:endParaRPr lang="en-AU" sz="1100" b="1" kern="1200" dirty="0">
                        <a:solidFill>
                          <a:schemeClr val="lt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Updates </a:t>
                      </a:r>
                      <a:endParaRPr lang="en-AU" sz="1100" b="1" kern="1200" dirty="0">
                        <a:solidFill>
                          <a:schemeClr val="lt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Borrower Communications - OnTrak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OnTrak (with MSA branding) is live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MSA branded </a:t>
                      </a:r>
                      <a:r>
                        <a:rPr lang="en-AU" sz="1100" dirty="0" err="1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OnTrak</a:t>
                      </a: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 issued to borrowers at documents issued stage via custom email has been implemented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Completed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Does La Trobe want this to be branded with ‘La Trobe’ branding – please advise and this can be implemented.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163956"/>
                  </a:ext>
                </a:extLst>
              </a:tr>
              <a:tr h="680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MyVideo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Demo developed and presented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 branded demo for ‘post approval’ was developed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Completed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5845323"/>
                  </a:ext>
                </a:extLst>
              </a:tr>
              <a:tr h="680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MyVideo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End-to-End video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Scripting and animation to be created and approved for all variables that can arise for residential deals with individual borrowers.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 Progress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Next Steps - Engagement with the team for script approval. Animation to then be developed (for residential deals with individual borrowers)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4564687"/>
                  </a:ext>
                </a:extLst>
              </a:tr>
              <a:tr h="680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E-Sign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Banners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Document banners have been developed to integrate into the revised E-Sign solution. Document enhancements – Used on file brand guidelines. 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 Progress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Does La Trobe have updated brand guidelines that can be provided?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5079853"/>
                  </a:ext>
                </a:extLst>
              </a:tr>
              <a:tr h="680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E-Sign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Solution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Develop the end-to-end new e-sign solution (incl. guarantor solution completely e-signable)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 Progress</a:t>
                      </a:r>
                      <a:endParaRPr lang="en-AU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 </a:t>
                      </a:r>
                      <a:endParaRPr lang="en-AU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40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37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48AE3F-348D-FFBC-24E2-67572341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Volumes Forecast vs Actual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DBBC8-5E34-1B62-9773-ABBFD273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F3E5-D2D2-93C5-C5D0-209790863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541093"/>
              </p:ext>
            </p:extLst>
          </p:nvPr>
        </p:nvGraphicFramePr>
        <p:xfrm>
          <a:off x="142224" y="1283079"/>
          <a:ext cx="8859552" cy="3161304"/>
        </p:xfrm>
        <a:graphic>
          <a:graphicData uri="http://schemas.openxmlformats.org/drawingml/2006/table">
            <a:tbl>
              <a:tblPr/>
              <a:tblGrid>
                <a:gridCol w="1771913">
                  <a:extLst>
                    <a:ext uri="{9D8B030D-6E8A-4147-A177-3AD203B41FA5}">
                      <a16:colId xmlns:a16="http://schemas.microsoft.com/office/drawing/2014/main" val="1762288944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702672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May 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Jul-25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Sep-25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Oct-25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Nov-25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Jan-26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Feb-26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Apr-26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May-26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97689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 Days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0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198714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Forecast Monthly Instructions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728344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 Daily</a:t>
                      </a:r>
                      <a:r>
                        <a:rPr lang="en-AU" sz="800" b="1" i="0" u="none" strike="noStrike" baseline="0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Instructions </a:t>
                      </a:r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940508"/>
                  </a:ext>
                </a:extLst>
              </a:tr>
              <a:tr h="448820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Actual</a:t>
                      </a:r>
                      <a:r>
                        <a:rPr lang="en-AU" sz="800" b="1" i="0" u="none" strike="noStrike" baseline="0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Average Daily Instructions </a:t>
                      </a:r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U" sz="800" b="0" i="0" u="none" strike="noStrike" kern="1200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Actual</a:t>
                      </a:r>
                      <a:r>
                        <a:rPr lang="en-AU" sz="800" b="1" i="0" u="none" strike="noStrike" baseline="0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Monthly </a:t>
                      </a:r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Documents Issued</a:t>
                      </a:r>
                      <a:r>
                        <a:rPr lang="en-AU" sz="800" b="1" i="0" u="none" strike="noStrike" baseline="0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U" sz="800" b="0" i="0" u="none" strike="noStrike" kern="1200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50735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Actual Monthly</a:t>
                      </a:r>
                      <a:r>
                        <a:rPr lang="en-AU" sz="800" b="1" i="0" u="none" strike="noStrike" baseline="0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Settlements Complete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U" sz="800" b="0" i="0" u="none" strike="noStrike" kern="1200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679498"/>
                  </a:ext>
                </a:extLst>
              </a:tr>
              <a:tr h="304333">
                <a:tc>
                  <a:txBody>
                    <a:bodyPr/>
                    <a:lstStyle/>
                    <a:p>
                      <a:pPr algn="l" fontAlgn="ctr"/>
                      <a:r>
                        <a:rPr lang="en-AU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Percentage actual documents issued vs forecast Monthly Instructions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7326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000" b="1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800" b="0" i="0" u="none" strike="noStrike" dirty="0">
                        <a:solidFill>
                          <a:srgbClr val="07326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85AC909-6BA5-CA05-7636-9313DD23F1E1}"/>
              </a:ext>
            </a:extLst>
          </p:cNvPr>
          <p:cNvGrpSpPr/>
          <p:nvPr/>
        </p:nvGrpSpPr>
        <p:grpSpPr>
          <a:xfrm>
            <a:off x="266535" y="5674658"/>
            <a:ext cx="8630422" cy="1081760"/>
            <a:chOff x="370703" y="4555525"/>
            <a:chExt cx="8630422" cy="1491048"/>
          </a:xfrm>
        </p:grpSpPr>
        <p:sp>
          <p:nvSpPr>
            <p:cNvPr id="4" name="Rounded Rectangle 10">
              <a:extLst>
                <a:ext uri="{FF2B5EF4-FFF2-40B4-BE49-F238E27FC236}">
                  <a16:creationId xmlns:a16="http://schemas.microsoft.com/office/drawing/2014/main" id="{BECEAB47-8BD9-4C6F-412E-59FE40272042}"/>
                </a:ext>
              </a:extLst>
            </p:cNvPr>
            <p:cNvSpPr/>
            <p:nvPr userDrawn="1"/>
          </p:nvSpPr>
          <p:spPr>
            <a:xfrm>
              <a:off x="370703" y="4771957"/>
              <a:ext cx="8630422" cy="127461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Rounded Rectangle 1">
              <a:extLst>
                <a:ext uri="{FF2B5EF4-FFF2-40B4-BE49-F238E27FC236}">
                  <a16:creationId xmlns:a16="http://schemas.microsoft.com/office/drawing/2014/main" id="{8D912DF9-9004-C1C4-6A5A-651EE144E8D3}"/>
                </a:ext>
              </a:extLst>
            </p:cNvPr>
            <p:cNvSpPr/>
            <p:nvPr userDrawn="1"/>
          </p:nvSpPr>
          <p:spPr>
            <a:xfrm>
              <a:off x="370703" y="4555524"/>
              <a:ext cx="2199502" cy="403634"/>
            </a:xfrm>
            <a:prstGeom prst="roundRect">
              <a:avLst/>
            </a:prstGeom>
            <a:solidFill>
              <a:srgbClr val="203764"/>
            </a:solidFill>
            <a:ln>
              <a:solidFill>
                <a:schemeClr val="tx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Century Gothic" panose="020B0502020202020204" pitchFamily="34" charset="0"/>
                  <a:cs typeface="Segoe UI" panose="020B0502040204020203" pitchFamily="34" charset="0"/>
                </a:rPr>
                <a:t>Key Insights</a:t>
              </a:r>
              <a:endParaRPr lang="en-AU" b="1" dirty="0">
                <a:latin typeface="Century Gothic" panose="020B050202020202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B4263C7-1448-9291-6FCE-7EC08608C3FA}"/>
              </a:ext>
            </a:extLst>
          </p:cNvPr>
          <p:cNvSpPr txBox="1">
            <a:spLocks/>
          </p:cNvSpPr>
          <p:nvPr/>
        </p:nvSpPr>
        <p:spPr>
          <a:xfrm>
            <a:off x="400050" y="5988425"/>
            <a:ext cx="8343900" cy="67235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entury Gothic" panose="020B0502020202020204" pitchFamily="34" charset="0"/>
              </a:rPr>
              <a:t>{{ </a:t>
            </a:r>
            <a:r>
              <a:rPr lang="en-GB" dirty="0" err="1">
                <a:latin typeface="Century Gothic" panose="020B0502020202020204" pitchFamily="34" charset="0"/>
              </a:rPr>
              <a:t>key_insights</a:t>
            </a:r>
            <a:r>
              <a:rPr lang="en-GB" dirty="0">
                <a:latin typeface="Century Gothic" panose="020B0502020202020204" pitchFamily="34" charset="0"/>
              </a:rPr>
              <a:t> }}</a:t>
            </a:r>
            <a:endParaRPr lang="en-A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9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AC67-3373-BA4E-356F-24634DF2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454E6DFB-427A-FAF1-11E6-1AA37918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{{customer}} Dashboard Highlights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1E5DC-8378-170F-B57A-537B951D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75B821-955D-6F55-98F7-29F887476045}"/>
              </a:ext>
            </a:extLst>
          </p:cNvPr>
          <p:cNvSpPr txBox="1">
            <a:spLocks/>
          </p:cNvSpPr>
          <p:nvPr/>
        </p:nvSpPr>
        <p:spPr>
          <a:xfrm>
            <a:off x="98424" y="1793212"/>
            <a:ext cx="8947151" cy="4909040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AU" sz="1400" dirty="0">
                <a:latin typeface="Century Gothic" panose="020B0502020202020204" pitchFamily="34" charset="0"/>
              </a:rPr>
              <a:t>{{ </a:t>
            </a:r>
            <a:r>
              <a:rPr lang="en-AU" sz="1400" dirty="0" err="1">
                <a:latin typeface="Century Gothic" panose="020B0502020202020204" pitchFamily="34" charset="0"/>
              </a:rPr>
              <a:t>governance_highlights</a:t>
            </a:r>
            <a:r>
              <a:rPr lang="en-AU" sz="1400" dirty="0">
                <a:latin typeface="Century Gothic" panose="020B0502020202020204" pitchFamily="34" charset="0"/>
              </a:rPr>
              <a:t> 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20575-6A7E-8895-7FB0-E807579D1D68}"/>
              </a:ext>
            </a:extLst>
          </p:cNvPr>
          <p:cNvSpPr txBox="1"/>
          <p:nvPr/>
        </p:nvSpPr>
        <p:spPr>
          <a:xfrm>
            <a:off x="116172" y="1128817"/>
            <a:ext cx="2808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Century Gothic" panose="020B0502020202020204" pitchFamily="34" charset="0"/>
              </a:rPr>
              <a:t>Instructions Received</a:t>
            </a:r>
          </a:p>
          <a:p>
            <a:pPr algn="ctr"/>
            <a:r>
              <a:rPr lang="en-GB" sz="1400" dirty="0">
                <a:latin typeface="Century Gothic" panose="020B0502020202020204" pitchFamily="34" charset="0"/>
              </a:rPr>
              <a:t>{{</a:t>
            </a:r>
            <a:r>
              <a:rPr lang="en-AU" sz="1400" dirty="0" err="1">
                <a:latin typeface="Century Gothic" panose="020B0502020202020204" pitchFamily="34" charset="0"/>
              </a:rPr>
              <a:t>count_instructions</a:t>
            </a:r>
            <a:r>
              <a:rPr lang="en-GB" sz="1400" dirty="0">
                <a:latin typeface="Century Gothic" panose="020B0502020202020204" pitchFamily="34" charset="0"/>
              </a:rPr>
              <a:t> 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8811B-C97F-EE9B-B2A5-EFD1879BB915}"/>
              </a:ext>
            </a:extLst>
          </p:cNvPr>
          <p:cNvSpPr txBox="1"/>
          <p:nvPr/>
        </p:nvSpPr>
        <p:spPr>
          <a:xfrm>
            <a:off x="3176873" y="1128817"/>
            <a:ext cx="2808000" cy="584775"/>
          </a:xfrm>
          <a:prstGeom prst="rect">
            <a:avLst/>
          </a:prstGeom>
          <a:solidFill>
            <a:srgbClr val="D4EBD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Century Gothic" panose="020B0502020202020204" pitchFamily="34" charset="0"/>
              </a:rPr>
              <a:t>Documents Sent</a:t>
            </a:r>
          </a:p>
          <a:p>
            <a:pPr algn="ctr"/>
            <a:r>
              <a:rPr lang="en-GB" sz="1400" dirty="0">
                <a:latin typeface="Century Gothic" panose="020B0502020202020204" pitchFamily="34" charset="0"/>
              </a:rPr>
              <a:t>{{</a:t>
            </a:r>
            <a:r>
              <a:rPr lang="en-AU" sz="1400" dirty="0" err="1">
                <a:latin typeface="Century Gothic" panose="020B0502020202020204" pitchFamily="34" charset="0"/>
              </a:rPr>
              <a:t>count_docs_sent</a:t>
            </a:r>
            <a:r>
              <a:rPr lang="en-GB" sz="1400" dirty="0">
                <a:latin typeface="Century Gothic" panose="020B0502020202020204" pitchFamily="34" charset="0"/>
              </a:rPr>
              <a:t> 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AD5E4-DEE1-3A83-C2AF-A35F438B16BD}"/>
              </a:ext>
            </a:extLst>
          </p:cNvPr>
          <p:cNvSpPr txBox="1"/>
          <p:nvPr/>
        </p:nvSpPr>
        <p:spPr>
          <a:xfrm>
            <a:off x="6237575" y="1128817"/>
            <a:ext cx="2808000" cy="584775"/>
          </a:xfrm>
          <a:prstGeom prst="rect">
            <a:avLst/>
          </a:prstGeom>
          <a:solidFill>
            <a:srgbClr val="D0D5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Century Gothic" panose="020B0502020202020204" pitchFamily="34" charset="0"/>
              </a:rPr>
              <a:t>Matters Settled</a:t>
            </a:r>
          </a:p>
          <a:p>
            <a:pPr algn="ctr"/>
            <a:r>
              <a:rPr lang="en-GB" sz="1400" dirty="0">
                <a:latin typeface="Century Gothic" panose="020B0502020202020204" pitchFamily="34" charset="0"/>
              </a:rPr>
              <a:t>{{</a:t>
            </a:r>
            <a:r>
              <a:rPr lang="en-AU" sz="1400" dirty="0" err="1">
                <a:latin typeface="Century Gothic" panose="020B0502020202020204" pitchFamily="34" charset="0"/>
              </a:rPr>
              <a:t>count_settlements</a:t>
            </a:r>
            <a:r>
              <a:rPr lang="en-GB" sz="1400" dirty="0">
                <a:latin typeface="Century Gothic" panose="020B0502020202020204" pitchFamily="34" charset="0"/>
              </a:rPr>
              <a:t> }}</a:t>
            </a:r>
          </a:p>
        </p:txBody>
      </p:sp>
    </p:spTree>
    <p:extLst>
      <p:ext uri="{BB962C8B-B14F-4D97-AF65-F5344CB8AC3E}">
        <p14:creationId xmlns:p14="http://schemas.microsoft.com/office/powerpoint/2010/main" val="205880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1CEEB834-BD46-35AD-8D37-3ABD2431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{{customer}} Dashboard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FD967-110E-00E7-B146-25CE3EA7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sp>
        <p:nvSpPr>
          <p:cNvPr id="3" name="governance_matrix">
            <a:extLst>
              <a:ext uri="{FF2B5EF4-FFF2-40B4-BE49-F238E27FC236}">
                <a16:creationId xmlns:a16="http://schemas.microsoft.com/office/drawing/2014/main" id="{F1676110-8649-2EDC-7FE0-17FB550763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180" y="1065125"/>
            <a:ext cx="8999640" cy="5145175"/>
          </a:xfrm>
        </p:spPr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F2D415-9528-36E7-46C5-C30FEE02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793235"/>
              </p:ext>
            </p:extLst>
          </p:nvPr>
        </p:nvGraphicFramePr>
        <p:xfrm>
          <a:off x="7354422" y="6305823"/>
          <a:ext cx="1717398" cy="4767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38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AU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RAG Ratings</a:t>
                      </a:r>
                      <a:endParaRPr lang="en-AU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C5F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43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1 - Red</a:t>
                      </a:r>
                      <a:endParaRPr lang="en-AU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2 – Amber</a:t>
                      </a:r>
                      <a:endParaRPr lang="en-AU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3 - Green</a:t>
                      </a:r>
                      <a:endParaRPr lang="en-AU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43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&lt; 85%</a:t>
                      </a:r>
                      <a:endParaRPr lang="en-AU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85% - 99%</a:t>
                      </a:r>
                      <a:endParaRPr lang="en-AU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900" u="none" strike="noStrike" dirty="0">
                          <a:effectLst/>
                        </a:rPr>
                        <a:t>100%</a:t>
                      </a:r>
                      <a:endParaRPr lang="en-AU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10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629A8-282C-DDE2-0233-D2F67F8E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{{ title }}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B3007-77B3-FFEC-EECE-75CA1C6D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31698288-EAC3-1773-108A-03165F34D7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13" y="1097758"/>
            <a:ext cx="8999640" cy="4481258"/>
          </a:xfrm>
        </p:spPr>
        <p:txBody>
          <a:bodyPr/>
          <a:lstStyle/>
          <a:p>
            <a:endParaRPr lang="en-A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E9C16-89CD-942B-3BEF-0CE80820D59D}"/>
              </a:ext>
            </a:extLst>
          </p:cNvPr>
          <p:cNvGrpSpPr/>
          <p:nvPr/>
        </p:nvGrpSpPr>
        <p:grpSpPr>
          <a:xfrm>
            <a:off x="266535" y="5674658"/>
            <a:ext cx="8630422" cy="1081760"/>
            <a:chOff x="370703" y="4555525"/>
            <a:chExt cx="8630422" cy="149104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1336AA0-9285-F9EC-A850-CEF8235E85FE}"/>
                </a:ext>
              </a:extLst>
            </p:cNvPr>
            <p:cNvSpPr/>
            <p:nvPr userDrawn="1"/>
          </p:nvSpPr>
          <p:spPr>
            <a:xfrm>
              <a:off x="370703" y="4771957"/>
              <a:ext cx="8630422" cy="127461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Rounded Rectangle 1">
              <a:extLst>
                <a:ext uri="{FF2B5EF4-FFF2-40B4-BE49-F238E27FC236}">
                  <a16:creationId xmlns:a16="http://schemas.microsoft.com/office/drawing/2014/main" id="{08D7729B-CBE2-EFD3-3F3D-66D0B1970C0B}"/>
                </a:ext>
              </a:extLst>
            </p:cNvPr>
            <p:cNvSpPr/>
            <p:nvPr userDrawn="1"/>
          </p:nvSpPr>
          <p:spPr>
            <a:xfrm>
              <a:off x="370703" y="4555524"/>
              <a:ext cx="2199502" cy="403634"/>
            </a:xfrm>
            <a:prstGeom prst="roundRect">
              <a:avLst/>
            </a:prstGeom>
            <a:solidFill>
              <a:srgbClr val="203764"/>
            </a:solidFill>
            <a:ln>
              <a:solidFill>
                <a:schemeClr val="tx2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Century Gothic" panose="020B0502020202020204" pitchFamily="34" charset="0"/>
                  <a:cs typeface="Segoe UI" panose="020B0502040204020203" pitchFamily="34" charset="0"/>
                </a:rPr>
                <a:t>Key Insights</a:t>
              </a:r>
              <a:endParaRPr lang="en-AU" b="1" dirty="0">
                <a:latin typeface="Century Gothic" panose="020B050202020202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84CB410-314C-2DF6-086B-B843A8F8C0E8}"/>
              </a:ext>
            </a:extLst>
          </p:cNvPr>
          <p:cNvSpPr txBox="1">
            <a:spLocks/>
          </p:cNvSpPr>
          <p:nvPr/>
        </p:nvSpPr>
        <p:spPr>
          <a:xfrm>
            <a:off x="400050" y="5988425"/>
            <a:ext cx="8343900" cy="67235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entury Gothic" panose="020B0502020202020204" pitchFamily="34" charset="0"/>
              </a:rPr>
              <a:t>{{ </a:t>
            </a:r>
            <a:r>
              <a:rPr lang="en-GB" dirty="0" err="1">
                <a:latin typeface="Century Gothic" panose="020B0502020202020204" pitchFamily="34" charset="0"/>
              </a:rPr>
              <a:t>key_insights</a:t>
            </a:r>
            <a:r>
              <a:rPr lang="en-GB" dirty="0">
                <a:latin typeface="Century Gothic" panose="020B0502020202020204" pitchFamily="34" charset="0"/>
              </a:rPr>
              <a:t> }}</a:t>
            </a:r>
            <a:endParaRPr lang="en-A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5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CAE00-9DB9-7083-213D-2E150777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{{title}}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7230E-396F-B761-D499-25D5EF99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{{</a:t>
            </a:r>
            <a:r>
              <a:rPr lang="en-AU" dirty="0" err="1"/>
              <a:t>display_date</a:t>
            </a:r>
            <a:r>
              <a:rPr lang="en-AU" dirty="0"/>
              <a:t>}}</a:t>
            </a:r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B96A3BFE-F6B2-1FFD-3C5B-227242789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037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CA4234-849D-FF75-03C9-6FC7E5E4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{{title}}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C2DC2-5B8D-B156-731E-C06E1156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48917B-36C4-E62B-7DBD-C2D83D864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52395"/>
              </p:ext>
            </p:extLst>
          </p:nvPr>
        </p:nvGraphicFramePr>
        <p:xfrm>
          <a:off x="181613" y="1263840"/>
          <a:ext cx="8780774" cy="5270085"/>
        </p:xfrm>
        <a:graphic>
          <a:graphicData uri="http://schemas.openxmlformats.org/drawingml/2006/table">
            <a:tbl>
              <a:tblPr firstRow="1" bandRow="1"/>
              <a:tblGrid>
                <a:gridCol w="131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3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Date 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b="1" kern="1200" dirty="0">
                          <a:solidFill>
                            <a:schemeClr val="lt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 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July 2025</a:t>
                      </a:r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PEXA will provide its Recovery Time Objective (RTO) and Recovery Point Objective (RPO) metrics, on 1 July 2025, to voluntarily meet CPS 230 guidelines.</a:t>
                      </a: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3956"/>
                  </a:ext>
                </a:extLst>
              </a:tr>
              <a:tr h="521432">
                <a:tc>
                  <a:txBody>
                    <a:bodyPr/>
                    <a:lstStyle/>
                    <a:p>
                      <a:pPr algn="l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July 2025</a:t>
                      </a:r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All states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Land Registry fees will increase for the 2025–2026 financial year. </a:t>
                      </a:r>
                    </a:p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MSA will begin quoting the updated fees in documentation from the second week in June. </a:t>
                      </a:r>
                    </a:p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If settlement occurs via PEXA before 1 July, the current (lower) fee will apply.</a:t>
                      </a: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079853"/>
                  </a:ext>
                </a:extLst>
              </a:tr>
              <a:tr h="468240"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February 2025 onwards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TAS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Transfers can now be completed electronically via PEXA. </a:t>
                      </a:r>
                    </a:p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This is not currently mandated. </a:t>
                      </a: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AU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581899"/>
                  </a:ext>
                </a:extLst>
              </a:tr>
              <a:tr h="490194"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May 2025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TAS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PEXA scope in Tasmania has expanded to include </a:t>
                      </a:r>
                      <a:r>
                        <a:rPr lang="en-US" sz="1200" u="sng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Change of Name applications</a:t>
                      </a:r>
                      <a:r>
                        <a:rPr lang="en-US" sz="1200" u="none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and </a:t>
                      </a:r>
                      <a:r>
                        <a:rPr lang="en-US" sz="1200" u="sng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Part Tenancy Transfers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06471"/>
                  </a:ext>
                </a:extLst>
              </a:tr>
              <a:tr h="686245"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Expected: August 2025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NT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Target go-live for electronic conveyancing is </a:t>
                      </a:r>
                      <a:r>
                        <a:rPr lang="en-US" sz="1200" u="sng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August 2025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starting with refinance transactions. </a:t>
                      </a:r>
                    </a:p>
                    <a:p>
                      <a:pPr algn="l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Electronic signing of mortgage documents is expected. </a:t>
                      </a:r>
                    </a:p>
                    <a:p>
                      <a:pPr algn="l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Mortgage witnessing requirements likely to change.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Functionality is expected to expand to include caveats (Feb 2026) and transfers (Aug 2026). 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0129"/>
                  </a:ext>
                </a:extLst>
              </a:tr>
              <a:tr h="686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Timing TBC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QLD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Discussions to transition the remaining 10% of paper settlements to digital had previously paused but have now resumed.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Progress is expected over the next 6–8 months.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0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42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B760-8D42-6606-D9CA-45F8BB62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{{title}}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222D1-1B87-3F6C-50A1-FEC20FD0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8CE77A-AEF3-F044-8284-1CA936C94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24375"/>
              </p:ext>
            </p:extLst>
          </p:nvPr>
        </p:nvGraphicFramePr>
        <p:xfrm>
          <a:off x="167055" y="1283361"/>
          <a:ext cx="8809890" cy="3222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8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8363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Activity </a:t>
                      </a:r>
                      <a:r>
                        <a:rPr lang="en-AU" sz="1200" baseline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A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 </a:t>
                      </a: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Owner/Due Date </a:t>
                      </a: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Update </a:t>
                      </a: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Status</a:t>
                      </a:r>
                    </a:p>
                  </a:txBody>
                  <a:tcPr anchor="ctr"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260">
                <a:tc>
                  <a:txBody>
                    <a:bodyPr/>
                    <a:lstStyle/>
                    <a:p>
                      <a:pPr algn="ctr"/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ISO 27001:2022</a:t>
                      </a:r>
                      <a:b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Certification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Maintain ISO 27001:2022 certification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 National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Certification received and issued in 2024.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Year 1 Surveillance Audit completed - May 2025.</a:t>
                      </a:r>
                    </a:p>
                    <a:p>
                      <a:pPr algn="l"/>
                      <a:endParaRPr lang="en-AU" sz="10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Complete</a:t>
                      </a:r>
                      <a:endParaRPr lang="en-AU" sz="105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1">
                <a:tc>
                  <a:txBody>
                    <a:bodyPr/>
                    <a:lstStyle/>
                    <a:p>
                      <a:pPr algn="ctr"/>
                      <a:r>
                        <a:rPr lang="en-AU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SOC 2 accreditation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Obtain SOC 2 Accreditation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 National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Gap analysis completed and submitted.</a:t>
                      </a:r>
                    </a:p>
                    <a:p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Readiness assessment meeting held; feedback being used to map SOC 2 roadmap.</a:t>
                      </a:r>
                    </a:p>
                    <a:p>
                      <a:endParaRPr lang="en-US" sz="105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 progress</a:t>
                      </a:r>
                    </a:p>
                  </a:txBody>
                  <a:tcPr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73">
                <a:tc>
                  <a:txBody>
                    <a:bodyPr/>
                    <a:lstStyle/>
                    <a:p>
                      <a:pPr algn="ctr"/>
                      <a:r>
                        <a:rPr lang="en-AU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Annual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Conduct annual penetration test on LoanTrak application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 National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report finalised mid-May 2025.</a:t>
                      </a:r>
                      <a:b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endParaRPr lang="en-US" sz="105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US" sz="10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l"/>
                      <a:endParaRPr lang="en-AU" sz="10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Complete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07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Annual Testing 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Conduct annual test of Business Continuity Plan (BCP) and Disaster Recovery (DR)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MSA National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August 2025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kern="120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Annual BCP + DR testing completed (August 2024).</a:t>
                      </a:r>
                    </a:p>
                    <a:p>
                      <a:pPr algn="l"/>
                      <a: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Next test scheduled for August 2025. </a:t>
                      </a:r>
                      <a:br>
                        <a:rPr lang="en-US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endParaRPr lang="en-AU" sz="1050" kern="120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Pending </a:t>
                      </a:r>
                      <a:endParaRPr lang="en-AU" sz="10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07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99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7D5E341-D382-6D4C-521F-B587458A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 title }}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E1ECF-9091-109E-10EA-344269BC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3BE1CA-6D59-7B19-3712-1175D92E2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33900"/>
              </p:ext>
            </p:extLst>
          </p:nvPr>
        </p:nvGraphicFramePr>
        <p:xfrm>
          <a:off x="141712" y="5232655"/>
          <a:ext cx="8831262" cy="1402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1262">
                  <a:extLst>
                    <a:ext uri="{9D8B030D-6E8A-4147-A177-3AD203B41FA5}">
                      <a16:colId xmlns:a16="http://schemas.microsoft.com/office/drawing/2014/main" val="2631666214"/>
                    </a:ext>
                  </a:extLst>
                </a:gridCol>
              </a:tblGrid>
              <a:tr h="436364">
                <a:tc>
                  <a:txBody>
                    <a:bodyPr/>
                    <a:lstStyle/>
                    <a:p>
                      <a:r>
                        <a:rPr lang="en-US" dirty="0">
                          <a:latin typeface="Century Gothic" panose="020B0502020202020204" pitchFamily="34" charset="0"/>
                          <a:cs typeface="Segoe UI" panose="020B0502040204020203" pitchFamily="34" charset="0"/>
                        </a:rPr>
                        <a:t>Commentary</a:t>
                      </a:r>
                      <a:endParaRPr lang="en-AU" dirty="0">
                        <a:latin typeface="Century Gothic" panose="020B0502020202020204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16040"/>
                  </a:ext>
                </a:extLst>
              </a:tr>
              <a:tr h="96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latin typeface="Century Gothic" panose="020B0502020202020204" pitchFamily="34" charset="0"/>
                          <a:cs typeface="Segoe UI" panose="020B0502040204020203" pitchFamily="34" charset="0"/>
                        </a:rPr>
                        <a:t>{{ commentary }}</a:t>
                      </a:r>
                    </a:p>
                    <a:p>
                      <a:endParaRPr lang="en-AU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18254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42A05AC-A019-AF9D-FE29-FAB33F8531D9}"/>
              </a:ext>
            </a:extLst>
          </p:cNvPr>
          <p:cNvSpPr txBox="1"/>
          <p:nvPr/>
        </p:nvSpPr>
        <p:spPr>
          <a:xfrm>
            <a:off x="141712" y="1086265"/>
            <a:ext cx="88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{{ text }}</a:t>
            </a:r>
            <a:endParaRPr lang="en-A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597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5990-7138-CA08-1A15-CF901CD8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{{title}}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CEDD3-6B1D-2F94-976A-ACBC013C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A10A8-2D17-BA52-FC4E-DED17E07B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96402"/>
              </p:ext>
            </p:extLst>
          </p:nvPr>
        </p:nvGraphicFramePr>
        <p:xfrm>
          <a:off x="276065" y="1279823"/>
          <a:ext cx="8479049" cy="3238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6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5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4324">
                  <a:extLst>
                    <a:ext uri="{9D8B030D-6E8A-4147-A177-3AD203B41FA5}">
                      <a16:colId xmlns:a16="http://schemas.microsoft.com/office/drawing/2014/main" val="1137007435"/>
                    </a:ext>
                  </a:extLst>
                </a:gridCol>
              </a:tblGrid>
              <a:tr h="764789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Month</a:t>
                      </a:r>
                      <a:r>
                        <a:rPr lang="en-AU" sz="1200" baseline="0" dirty="0"/>
                        <a:t> </a:t>
                      </a:r>
                      <a:endParaRPr lang="en-AU" sz="1200" dirty="0"/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Date Occurred</a:t>
                      </a:r>
                    </a:p>
                    <a:p>
                      <a:pPr algn="ctr"/>
                      <a:r>
                        <a:rPr lang="en-AU" sz="1200" dirty="0"/>
                        <a:t>MSA Ref</a:t>
                      </a:r>
                      <a:br>
                        <a:rPr lang="en-AU" sz="1200" dirty="0"/>
                      </a:br>
                      <a:r>
                        <a:rPr lang="en-AU" sz="1200" dirty="0"/>
                        <a:t>Lender Ref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Event 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Description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Probability of reoccurrence</a:t>
                      </a:r>
                      <a:r>
                        <a:rPr lang="en-AU" sz="1200" baseline="0" dirty="0"/>
                        <a:t> </a:t>
                      </a:r>
                      <a:endParaRPr lang="en-AU" sz="1200" dirty="0"/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Remediation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Status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61478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933465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975038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32918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541094"/>
                  </a:ext>
                </a:extLst>
              </a:tr>
              <a:tr h="412292"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226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0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A4E9-2A8D-09DD-9415-9B78A8D0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986F-C323-F712-0B03-BAB3EC0A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{{title}}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E1DDF-51A5-D925-5DF1-54EA4223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{{display_date}}</a:t>
            </a:r>
            <a:endParaRPr lang="en-AU" dirty="0"/>
          </a:p>
        </p:txBody>
      </p:sp>
      <p:pic>
        <p:nvPicPr>
          <p:cNvPr id="5" name="Picture Placeholder 9" descr="A group of people posing for the camera&#10;">
            <a:extLst>
              <a:ext uri="{FF2B5EF4-FFF2-40B4-BE49-F238E27FC236}">
                <a16:creationId xmlns:a16="http://schemas.microsoft.com/office/drawing/2014/main" id="{8766765D-B46D-82C2-68B7-54A9B6D4F0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29"/>
          <a:stretch/>
        </p:blipFill>
        <p:spPr>
          <a:xfrm>
            <a:off x="101166" y="1415715"/>
            <a:ext cx="4171930" cy="4447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8AC641-7316-8594-244B-AB5D2D3E25AB}"/>
              </a:ext>
            </a:extLst>
          </p:cNvPr>
          <p:cNvSpPr txBox="1"/>
          <p:nvPr/>
        </p:nvSpPr>
        <p:spPr>
          <a:xfrm>
            <a:off x="4467225" y="1920540"/>
            <a:ext cx="447675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00" dirty="0">
                <a:latin typeface="Century Gothic" panose="020B0502020202020204" pitchFamily="34" charset="0"/>
              </a:rPr>
              <a:t>Hi </a:t>
            </a:r>
            <a:r>
              <a:rPr lang="en-AU" sz="1300" b="1" dirty="0">
                <a:latin typeface="Century Gothic" panose="020B0502020202020204" pitchFamily="34" charset="0"/>
              </a:rPr>
              <a:t>Kelly</a:t>
            </a:r>
            <a:r>
              <a:rPr lang="en-AU" sz="1300" dirty="0">
                <a:latin typeface="Century Gothic" panose="020B0502020202020204" pitchFamily="34" charset="0"/>
              </a:rPr>
              <a:t> ,</a:t>
            </a:r>
          </a:p>
          <a:p>
            <a:r>
              <a:rPr lang="en-AU" sz="1300" dirty="0">
                <a:latin typeface="Century Gothic" panose="020B0502020202020204" pitchFamily="34" charset="0"/>
              </a:rPr>
              <a:t>You are a champion and thanks a lot for prompt action on both these files.</a:t>
            </a:r>
          </a:p>
          <a:p>
            <a:r>
              <a:rPr lang="en-AU" sz="1300" dirty="0">
                <a:latin typeface="Century Gothic" panose="020B0502020202020204" pitchFamily="34" charset="0"/>
              </a:rPr>
              <a:t>It makes a broker’s life so easy when settlement team gets everything in order way in advance!</a:t>
            </a:r>
          </a:p>
          <a:p>
            <a:endParaRPr lang="en-AU" sz="1300" dirty="0">
              <a:latin typeface="Century Gothic" panose="020B0502020202020204" pitchFamily="34" charset="0"/>
            </a:endParaRPr>
          </a:p>
          <a:p>
            <a:r>
              <a:rPr lang="en-AU" sz="1300" dirty="0">
                <a:latin typeface="Century Gothic" panose="020B0502020202020204" pitchFamily="34" charset="0"/>
              </a:rPr>
              <a:t>Hi Anisha,</a:t>
            </a:r>
          </a:p>
          <a:p>
            <a:r>
              <a:rPr lang="en-AU" sz="1300" dirty="0">
                <a:latin typeface="Century Gothic" panose="020B0502020202020204" pitchFamily="34" charset="0"/>
              </a:rPr>
              <a:t>Please pass on this good feedback to settlement team that working with </a:t>
            </a:r>
            <a:r>
              <a:rPr lang="en-AU" sz="1300" b="1" dirty="0">
                <a:latin typeface="Century Gothic" panose="020B0502020202020204" pitchFamily="34" charset="0"/>
              </a:rPr>
              <a:t>Kelly</a:t>
            </a:r>
            <a:r>
              <a:rPr lang="en-AU" sz="1300" dirty="0">
                <a:latin typeface="Century Gothic" panose="020B0502020202020204" pitchFamily="34" charset="0"/>
              </a:rPr>
              <a:t> has been absolutely amazing and look forward to work with her on more files going forward.</a:t>
            </a:r>
          </a:p>
          <a:p>
            <a:endParaRPr lang="en-AU" sz="1300" dirty="0">
              <a:latin typeface="Century Gothic" panose="020B0502020202020204" pitchFamily="34" charset="0"/>
            </a:endParaRPr>
          </a:p>
          <a:p>
            <a:endParaRPr lang="en-AU" sz="1300" dirty="0">
              <a:latin typeface="Century Gothic" panose="020B0502020202020204" pitchFamily="34" charset="0"/>
            </a:endParaRPr>
          </a:p>
          <a:p>
            <a:pPr algn="r"/>
            <a:r>
              <a:rPr lang="en-AU" sz="1400" b="1" dirty="0">
                <a:latin typeface="Century Gothic" panose="020B0502020202020204" pitchFamily="34" charset="0"/>
              </a:rPr>
              <a:t>SANDEEP JAGTAP </a:t>
            </a:r>
            <a:r>
              <a:rPr lang="en-AU" sz="1400" dirty="0">
                <a:latin typeface="Century Gothic" panose="020B0502020202020204" pitchFamily="34" charset="0"/>
              </a:rPr>
              <a:t>(Broker) for </a:t>
            </a:r>
            <a:r>
              <a:rPr lang="en-AU" sz="1400" b="1" dirty="0">
                <a:latin typeface="Century Gothic" panose="020B0502020202020204" pitchFamily="34" charset="0"/>
              </a:rPr>
              <a:t>Kelly Douglas</a:t>
            </a:r>
          </a:p>
        </p:txBody>
      </p:sp>
    </p:spTree>
    <p:extLst>
      <p:ext uri="{BB962C8B-B14F-4D97-AF65-F5344CB8AC3E}">
        <p14:creationId xmlns:p14="http://schemas.microsoft.com/office/powerpoint/2010/main" val="401125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5B9BD5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iimely_template.potx" id="{D430D3E4-5C3F-4DF0-B9F5-9B474C2767B5}" vid="{22B6B831-5D80-4FAD-8093-6A8FC6C1B4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3946de-af70-4bc9-868f-790056277f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7ED6F0C3D2DA45BD1D419C39365F2B" ma:contentTypeVersion="6" ma:contentTypeDescription="Create a new document." ma:contentTypeScope="" ma:versionID="320f120be272f78bc02b832434a7e7d3">
  <xsd:schema xmlns:xsd="http://www.w3.org/2001/XMLSchema" xmlns:xs="http://www.w3.org/2001/XMLSchema" xmlns:p="http://schemas.microsoft.com/office/2006/metadata/properties" xmlns:ns3="993946de-af70-4bc9-868f-790056277f88" targetNamespace="http://schemas.microsoft.com/office/2006/metadata/properties" ma:root="true" ma:fieldsID="a9d03099a8632f0fdaf37d916f5ca81d" ns3:_="">
    <xsd:import namespace="993946de-af70-4bc9-868f-790056277f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3946de-af70-4bc9-868f-790056277f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D3520E-9634-4FBD-B3D9-A23DCD1A3D6D}">
  <ds:schemaRefs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993946de-af70-4bc9-868f-790056277f8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B040D1A-35ED-4DAF-8BBB-BB245A4EC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976E7D-2595-4AF1-8CD5-FF02930622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3946de-af70-4bc9-868f-790056277f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Governance Pack Proposed Standard Theme</Template>
  <TotalTime>313</TotalTime>
  <Words>1069</Words>
  <Application>Microsoft Office PowerPoint</Application>
  <PresentationFormat>On-screen Show (4:3)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Segoe UI</vt:lpstr>
      <vt:lpstr>Office Theme</vt:lpstr>
      <vt:lpstr>Monthly Governance Forum</vt:lpstr>
      <vt:lpstr>{{ title }}</vt:lpstr>
      <vt:lpstr>{{ title }}</vt:lpstr>
      <vt:lpstr>Volumes Forecast vs Actual</vt:lpstr>
      <vt:lpstr>{{customer}} Dashboard Highlights</vt:lpstr>
      <vt:lpstr>{{customer}} Dashboard</vt:lpstr>
      <vt:lpstr>{{ title }}</vt:lpstr>
      <vt:lpstr>{{title}}</vt:lpstr>
      <vt:lpstr>{{title}}</vt:lpstr>
      <vt:lpstr>{{title}}</vt:lpstr>
      <vt:lpstr>{{ title }}</vt:lpstr>
      <vt:lpstr>{{title}}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Maitland Marshall</dc:creator>
  <cp:lastModifiedBy>Maitland Marshall</cp:lastModifiedBy>
  <cp:revision>138</cp:revision>
  <dcterms:created xsi:type="dcterms:W3CDTF">2025-07-13T23:03:47Z</dcterms:created>
  <dcterms:modified xsi:type="dcterms:W3CDTF">2025-12-10T23:11:03Z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0x010100FD7ED6F0C3D2DA45BD1D419C39365F2B</vt:lpwstr>
  </property>
</Properties>
</file>